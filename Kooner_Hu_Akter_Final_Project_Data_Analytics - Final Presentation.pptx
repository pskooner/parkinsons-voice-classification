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8"/>
  </p:notesMasterIdLst>
  <p:sldIdLst>
    <p:sldId id="263" r:id="rId2"/>
    <p:sldId id="259" r:id="rId3"/>
    <p:sldId id="269" r:id="rId4"/>
    <p:sldId id="279" r:id="rId5"/>
    <p:sldId id="260" r:id="rId6"/>
    <p:sldId id="258" r:id="rId7"/>
    <p:sldId id="272" r:id="rId8"/>
    <p:sldId id="274" r:id="rId9"/>
    <p:sldId id="273" r:id="rId10"/>
    <p:sldId id="270" r:id="rId11"/>
    <p:sldId id="275" r:id="rId12"/>
    <p:sldId id="276" r:id="rId13"/>
    <p:sldId id="277" r:id="rId14"/>
    <p:sldId id="271" r:id="rId15"/>
    <p:sldId id="278" r:id="rId16"/>
    <p:sldId id="264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578"/>
    <a:srgbClr val="AE6042"/>
    <a:srgbClr val="4E7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4"/>
    <p:restoredTop sz="76859" autoAdjust="0"/>
  </p:normalViewPr>
  <p:slideViewPr>
    <p:cSldViewPr snapToGrid="0">
      <p:cViewPr varScale="1">
        <p:scale>
          <a:sx n="113" d="100"/>
          <a:sy n="113" d="100"/>
        </p:scale>
        <p:origin x="174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82C64-586A-E949-B7C7-4EF9E2BA7CA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6E505-E02E-1D47-9AB8-B992CB05A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67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49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27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0FD0-5319-70AE-EC57-B32523D1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8B4FF-6642-FB1E-5A32-E1E325965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73A88-96A3-0DB4-9D1D-EFE325188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01E38-0C54-10EA-5552-67697FE4E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55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2A78-5E20-F7E7-9132-AFEC9AF3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ADF5C-AE32-F476-1B70-3129A461B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E79AE-38F9-6851-70BA-07F10F44C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this slide, we’re showing the four classification models we used to predict Parkinson’s disease.</a:t>
            </a:r>
          </a:p>
          <a:p>
            <a:r>
              <a:rPr lang="en-US" dirty="0"/>
              <a:t>From a statistical learning perspective, this is a </a:t>
            </a:r>
            <a:r>
              <a:rPr lang="en-US" b="1" dirty="0"/>
              <a:t>supervised classification problem</a:t>
            </a:r>
            <a:r>
              <a:rPr lang="en-US" dirty="0"/>
              <a:t>, where we’re trying to learn a function that maps our </a:t>
            </a:r>
            <a:r>
              <a:rPr lang="en-US" b="1" dirty="0"/>
              <a:t>predictors—things like MFCC coefficients, wavelet features, and other voice-based measurements—to the probability of Parkinson’s disease</a:t>
            </a:r>
            <a:r>
              <a:rPr lang="en-US" dirty="0"/>
              <a:t>. </a:t>
            </a:r>
          </a:p>
          <a:p>
            <a:r>
              <a:rPr lang="en-US" dirty="0"/>
              <a:t>We start with </a:t>
            </a:r>
            <a:r>
              <a:rPr lang="en-US" b="1" dirty="0"/>
              <a:t>logistic regression</a:t>
            </a:r>
            <a:r>
              <a:rPr lang="en-US" dirty="0"/>
              <a:t>, which is our baseline model. It estimates probabilities using a linear combination of predictors.</a:t>
            </a:r>
          </a:p>
          <a:p>
            <a:r>
              <a:rPr lang="en-US" dirty="0"/>
              <a:t>But because our dataset is </a:t>
            </a:r>
            <a:r>
              <a:rPr lang="en-US" b="1" dirty="0"/>
              <a:t>high-dimensional and the predictors are highly correlated</a:t>
            </a:r>
            <a:r>
              <a:rPr lang="en-US" dirty="0"/>
              <a:t>, we don’t just fit a standard model—we use </a:t>
            </a:r>
            <a:r>
              <a:rPr lang="en-US" b="1" dirty="0"/>
              <a:t>regularization</a:t>
            </a:r>
            <a:r>
              <a:rPr lang="en-US" dirty="0"/>
              <a:t>, specifically a </a:t>
            </a:r>
            <a:r>
              <a:rPr lang="en-US" b="1" dirty="0"/>
              <a:t>ridge penalty</a:t>
            </a:r>
            <a:r>
              <a:rPr lang="en-US" dirty="0"/>
              <a:t>, with </a:t>
            </a:r>
            <a:r>
              <a:rPr lang="en-US" b="1" dirty="0"/>
              <a:t>α = 0 and λ = 0.1</a:t>
            </a:r>
            <a:r>
              <a:rPr lang="en-US" dirty="0"/>
              <a:t>.</a:t>
            </a:r>
          </a:p>
          <a:p>
            <a:r>
              <a:rPr lang="en-US" dirty="0"/>
              <a:t>Mathematically, what we’re doing is minimizing a function that has two parts:</a:t>
            </a:r>
          </a:p>
          <a:p>
            <a:r>
              <a:rPr lang="en-US" dirty="0"/>
              <a:t>one part that measures how well the model fits the data </a:t>
            </a:r>
          </a:p>
          <a:p>
            <a:r>
              <a:rPr lang="en-US" dirty="0"/>
              <a:t>and another part that penalizes large coefficients </a:t>
            </a:r>
          </a:p>
          <a:p>
            <a:r>
              <a:rPr lang="en-US" dirty="0"/>
              <a:t>The penalty term in ridge regression shrinks all the coefficients toward zero.</a:t>
            </a:r>
          </a:p>
          <a:p>
            <a:r>
              <a:rPr lang="en-US" dirty="0"/>
              <a:t>And the reason this matters is that many of our predictors—like MFCC and wavelet features—are strongly correlated, so without regularization, the model would become unstable and overfit.</a:t>
            </a:r>
          </a:p>
          <a:p>
            <a:r>
              <a:rPr lang="en-US" dirty="0"/>
              <a:t>So ridge helps reduce variance and gives us more reliable estimates.</a:t>
            </a:r>
          </a:p>
          <a:p>
            <a:r>
              <a:rPr lang="en-US" dirty="0"/>
              <a:t>Moving to the other models—</a:t>
            </a:r>
          </a:p>
          <a:p>
            <a:r>
              <a:rPr lang="en-US" b="1" dirty="0"/>
              <a:t>Random Forest</a:t>
            </a:r>
            <a:r>
              <a:rPr lang="en-US" dirty="0"/>
              <a:t> is an ensemble of decision trees. It reduces variance by averaging many trees, and we tuned </a:t>
            </a:r>
            <a:r>
              <a:rPr lang="en-US" b="1" dirty="0" err="1"/>
              <a:t>mtry</a:t>
            </a:r>
            <a:r>
              <a:rPr lang="en-US" b="1" dirty="0"/>
              <a:t> = 15</a:t>
            </a:r>
            <a:r>
              <a:rPr lang="en-US" dirty="0"/>
              <a:t>, which controls how many predictors are considered at each split.</a:t>
            </a:r>
          </a:p>
          <a:p>
            <a:r>
              <a:rPr lang="en-US" b="1" dirty="0"/>
              <a:t>SVM</a:t>
            </a:r>
            <a:r>
              <a:rPr lang="en-US" dirty="0"/>
              <a:t> uses a radial kernel, with </a:t>
            </a:r>
            <a:r>
              <a:rPr lang="en-US" b="1" dirty="0"/>
              <a:t>σ = 0.001 and C = 5</a:t>
            </a:r>
            <a:r>
              <a:rPr lang="en-US" dirty="0"/>
              <a:t>, allowing it to capture nonlinear relationships by finding an optimal boundary in a high-dimensional space.</a:t>
            </a:r>
          </a:p>
          <a:p>
            <a:r>
              <a:rPr lang="en-US" dirty="0"/>
              <a:t>And finally, the </a:t>
            </a:r>
            <a:r>
              <a:rPr lang="en-US" b="1" dirty="0"/>
              <a:t>MLP neural network</a:t>
            </a:r>
            <a:r>
              <a:rPr lang="en-US" dirty="0"/>
              <a:t> uses </a:t>
            </a:r>
            <a:r>
              <a:rPr lang="en-US" b="1" dirty="0"/>
              <a:t>36 principal components</a:t>
            </a:r>
            <a:r>
              <a:rPr lang="en-US" dirty="0"/>
              <a:t> as input, with </a:t>
            </a:r>
            <a:r>
              <a:rPr lang="en-US" b="1" dirty="0"/>
              <a:t>size = 5 and decay = 0.1</a:t>
            </a:r>
            <a:r>
              <a:rPr lang="en-US" dirty="0"/>
              <a:t>. Neural networks are very flexible, but they require careful tuning, especially with smaller sample sizes.</a:t>
            </a:r>
          </a:p>
          <a:p>
            <a:r>
              <a:rPr lang="en-US" dirty="0"/>
              <a:t>So overall, we’re comparing models that range from </a:t>
            </a:r>
            <a:r>
              <a:rPr lang="en-US" b="1" dirty="0"/>
              <a:t>simple and interpretable with regularization, to more flexible nonlinear methods</a:t>
            </a:r>
            <a:r>
              <a:rPr lang="en-US" dirty="0"/>
              <a:t>, to see which best captures the structure in our data</a:t>
            </a:r>
          </a:p>
          <a:p>
            <a:endParaRPr lang="en-US" dirty="0"/>
          </a:p>
          <a:p>
            <a:r>
              <a:rPr lang="en-US" dirty="0"/>
              <a:t>Ridge is preferred over Lasso here because we expect many small but relevant predictors rather than a few strong ones, so shrinking all coefficients is more appropriate than selecting a subset.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3EAC5-9DFF-B51B-94B2-92FB244B0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0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we built the models, the next step is figuring out how to evaluate them properly.</a:t>
            </a:r>
          </a:p>
          <a:p>
            <a:r>
              <a:rPr lang="en-US" dirty="0"/>
              <a:t>We used </a:t>
            </a:r>
            <a:r>
              <a:rPr lang="en-US" b="1" dirty="0"/>
              <a:t>5-fold cross-validation on the 201 training subjects</a:t>
            </a:r>
            <a:r>
              <a:rPr lang="en-US" dirty="0"/>
              <a:t>, which is important because it gives us a more reliable estimate of how the model will perform on new data. </a:t>
            </a:r>
          </a:p>
          <a:p>
            <a:r>
              <a:rPr lang="en-US" dirty="0"/>
              <a:t>From a statistical learning perspective, this helps us estimate </a:t>
            </a:r>
            <a:r>
              <a:rPr lang="en-US" b="1" dirty="0"/>
              <a:t>test error</a:t>
            </a:r>
            <a:r>
              <a:rPr lang="en-US" dirty="0"/>
              <a:t>, rather than just training error, which can be overly optimistic.</a:t>
            </a:r>
          </a:p>
          <a:p>
            <a:r>
              <a:rPr lang="en-US" dirty="0"/>
              <a:t>In terms of metrics, we report several:</a:t>
            </a:r>
          </a:p>
          <a:p>
            <a:r>
              <a:rPr lang="en-US" b="1" dirty="0"/>
              <a:t>AUC</a:t>
            </a:r>
            <a:r>
              <a:rPr lang="en-US" dirty="0"/>
              <a:t>, which measures how well the model ranks PD versus non-PD across all thresholds </a:t>
            </a:r>
          </a:p>
          <a:p>
            <a:r>
              <a:rPr lang="en-US" b="1" dirty="0"/>
              <a:t>Sensitivity</a:t>
            </a:r>
            <a:r>
              <a:rPr lang="en-US" dirty="0"/>
              <a:t>, which tells us how well we detect actual Parkinson’s cases </a:t>
            </a:r>
          </a:p>
          <a:p>
            <a:r>
              <a:rPr lang="en-US" b="1" dirty="0"/>
              <a:t>Specificity</a:t>
            </a:r>
            <a:r>
              <a:rPr lang="en-US" dirty="0"/>
              <a:t>, which tells us how well we correctly identify non-Parkinson’s individuals </a:t>
            </a:r>
          </a:p>
          <a:p>
            <a:r>
              <a:rPr lang="en-US" dirty="0"/>
              <a:t>We also report accuracy and F1-score, but we don’t rely on them as much because our data is imbalanced.</a:t>
            </a:r>
          </a:p>
          <a:p>
            <a:r>
              <a:rPr lang="en-US" dirty="0"/>
              <a:t>So the key idea here is that </a:t>
            </a:r>
            <a:r>
              <a:rPr lang="en-US" b="1" dirty="0"/>
              <a:t>no single metric is enough</a:t>
            </a:r>
            <a:r>
              <a:rPr lang="en-US" dirty="0"/>
              <a:t>, especially in imbalanced classification problems, so we look at multiple metrics to get a complete picture.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03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performance results across all four models:</a:t>
            </a:r>
          </a:p>
          <a:p>
            <a:r>
              <a:rPr lang="en-US" dirty="0"/>
              <a:t>Logistic Regression: </a:t>
            </a:r>
            <a:r>
              <a:rPr lang="en-US" b="1" dirty="0"/>
              <a:t>AUC = 0.859, Accuracy = 0.811, Sensitivity = 0.840, Specificity = 0.725, F1 = 0.869</a:t>
            </a:r>
            <a:r>
              <a:rPr lang="en-US" dirty="0"/>
              <a:t> </a:t>
            </a:r>
          </a:p>
          <a:p>
            <a:r>
              <a:rPr lang="en-US" dirty="0"/>
              <a:t>Random Forest: </a:t>
            </a:r>
            <a:r>
              <a:rPr lang="en-US" b="1" dirty="0"/>
              <a:t>AUC = 0.842, Accuracy = 0.821, Sensitivity = 0.940, Specificity = 0.451, F1 = 0.886</a:t>
            </a:r>
            <a:r>
              <a:rPr lang="en-US" dirty="0"/>
              <a:t> </a:t>
            </a:r>
          </a:p>
          <a:p>
            <a:r>
              <a:rPr lang="en-US" dirty="0"/>
              <a:t>SVM: </a:t>
            </a:r>
            <a:r>
              <a:rPr lang="en-US" b="1" dirty="0"/>
              <a:t>AUC = 0.796, Accuracy = 0.806, Sensitivity = 0.967, Specificity = 0.314, F1 = 0.881</a:t>
            </a:r>
            <a:r>
              <a:rPr lang="en-US" dirty="0"/>
              <a:t> </a:t>
            </a:r>
          </a:p>
          <a:p>
            <a:r>
              <a:rPr lang="en-US" dirty="0"/>
              <a:t>MLP: </a:t>
            </a:r>
            <a:r>
              <a:rPr lang="en-US" b="1" dirty="0"/>
              <a:t>AUC = 0.816, Accuracy = 0.756, Sensitivity = 0.800, Specificity = 0.627, F1 = 0.831</a:t>
            </a:r>
            <a:r>
              <a:rPr lang="en-US" dirty="0"/>
              <a:t> </a:t>
            </a:r>
          </a:p>
          <a:p>
            <a:r>
              <a:rPr lang="en-US" dirty="0"/>
              <a:t>What stands out is that </a:t>
            </a:r>
            <a:r>
              <a:rPr lang="en-US" b="1" dirty="0"/>
              <a:t>logistic regression has the highest AUC and the most balanced performance</a:t>
            </a:r>
            <a:r>
              <a:rPr lang="en-US" dirty="0"/>
              <a:t>, especially between sensitivity and specificity.</a:t>
            </a:r>
          </a:p>
          <a:p>
            <a:r>
              <a:rPr lang="en-US" dirty="0"/>
              <a:t>From a theory standpoint, this reflects the </a:t>
            </a:r>
            <a:r>
              <a:rPr lang="en-US" b="1" dirty="0"/>
              <a:t>bias-variance trade-off</a:t>
            </a:r>
            <a:r>
              <a:rPr lang="en-US" dirty="0"/>
              <a:t>.</a:t>
            </a:r>
          </a:p>
          <a:p>
            <a:r>
              <a:rPr lang="en-US" dirty="0"/>
              <a:t>Logistic regression is simpler, so it has slightly higher bias but lower variance </a:t>
            </a:r>
          </a:p>
          <a:p>
            <a:r>
              <a:rPr lang="en-US" dirty="0"/>
              <a:t>More flexible models like Random Forest and SVM have lower bias but higher variance </a:t>
            </a:r>
          </a:p>
          <a:p>
            <a:r>
              <a:rPr lang="en-US" dirty="0"/>
              <a:t>We can see that in the results—Random Forest and SVM have very high sensitivity, </a:t>
            </a:r>
            <a:r>
              <a:rPr lang="en-US" b="1" dirty="0"/>
              <a:t>0.94 and 0.967</a:t>
            </a:r>
            <a:r>
              <a:rPr lang="en-US" dirty="0"/>
              <a:t>, but very low specificity, </a:t>
            </a:r>
            <a:r>
              <a:rPr lang="en-US" b="1" dirty="0"/>
              <a:t>0.451 and 0.314</a:t>
            </a:r>
            <a:r>
              <a:rPr lang="en-US" dirty="0"/>
              <a:t>.</a:t>
            </a:r>
          </a:p>
          <a:p>
            <a:r>
              <a:rPr lang="en-US" dirty="0"/>
              <a:t>So they’re essentially predicting most observations as Parkinson’s, which gives high sensitivity but poor ability to detect healthy individuals.</a:t>
            </a:r>
          </a:p>
          <a:p>
            <a:r>
              <a:rPr lang="en-US" dirty="0"/>
              <a:t>So even though accuracy looks similar across models, logistic regression clearly provides the most </a:t>
            </a:r>
            <a:r>
              <a:rPr lang="en-US" b="1" dirty="0"/>
              <a:t>reliable and balanced performance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46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D0E5-E5C0-8198-D9F0-DA8F28D9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E1E1B-81E2-E93F-BC3D-9857E2BE2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002BB-B6E5-EC6F-2E7B-9E1757437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ROC curves for all four models.</a:t>
            </a:r>
          </a:p>
          <a:p>
            <a:r>
              <a:rPr lang="en-US" dirty="0"/>
              <a:t>From a statistical learning perspective, the ROC curve plots </a:t>
            </a:r>
            <a:r>
              <a:rPr lang="en-US" b="1" dirty="0"/>
              <a:t>sensitivity against 1 minus specificity across all possible thresholds</a:t>
            </a:r>
            <a:r>
              <a:rPr lang="en-US" dirty="0"/>
              <a:t>.</a:t>
            </a:r>
          </a:p>
          <a:p>
            <a:r>
              <a:rPr lang="en-US" dirty="0"/>
              <a:t>The key summary measure is the </a:t>
            </a:r>
            <a:r>
              <a:rPr lang="en-US" b="1" dirty="0"/>
              <a:t>AUC</a:t>
            </a:r>
            <a:r>
              <a:rPr lang="en-US" dirty="0"/>
              <a:t>, where higher values indicate better ability to distinguish between classes.</a:t>
            </a:r>
          </a:p>
          <a:p>
            <a:r>
              <a:rPr lang="en-US" dirty="0"/>
              <a:t>In our results:</a:t>
            </a:r>
          </a:p>
          <a:p>
            <a:r>
              <a:rPr lang="en-US" dirty="0"/>
              <a:t>Logistic regression has the highest AUC at </a:t>
            </a:r>
            <a:r>
              <a:rPr lang="en-US" b="1" dirty="0"/>
              <a:t>0.859</a:t>
            </a:r>
            <a:r>
              <a:rPr lang="en-US" dirty="0"/>
              <a:t> </a:t>
            </a:r>
          </a:p>
          <a:p>
            <a:r>
              <a:rPr lang="en-US" dirty="0"/>
              <a:t>Followed by Random Forest at </a:t>
            </a:r>
            <a:r>
              <a:rPr lang="en-US" b="1" dirty="0"/>
              <a:t>0.842</a:t>
            </a:r>
            <a:r>
              <a:rPr lang="en-US" dirty="0"/>
              <a:t> </a:t>
            </a:r>
          </a:p>
          <a:p>
            <a:r>
              <a:rPr lang="en-US" dirty="0"/>
              <a:t>Then MLP at </a:t>
            </a:r>
            <a:r>
              <a:rPr lang="en-US" b="1" dirty="0"/>
              <a:t>0.816</a:t>
            </a:r>
            <a:r>
              <a:rPr lang="en-US" dirty="0"/>
              <a:t> </a:t>
            </a:r>
          </a:p>
          <a:p>
            <a:r>
              <a:rPr lang="en-US" dirty="0"/>
              <a:t>And SVM at </a:t>
            </a:r>
            <a:r>
              <a:rPr lang="en-US" b="1" dirty="0"/>
              <a:t>0.796</a:t>
            </a:r>
            <a:r>
              <a:rPr lang="en-US" dirty="0"/>
              <a:t> </a:t>
            </a:r>
          </a:p>
          <a:p>
            <a:r>
              <a:rPr lang="en-US" dirty="0"/>
              <a:t>What’s important here is that logistic regression’s curve stays above the others across most thresholds, especially in the </a:t>
            </a:r>
            <a:r>
              <a:rPr lang="en-US" b="1" dirty="0"/>
              <a:t>high-specificity region</a:t>
            </a:r>
            <a:r>
              <a:rPr lang="en-US" dirty="0"/>
              <a:t>, which is critical in clinical applications where false positives matter.</a:t>
            </a:r>
          </a:p>
          <a:p>
            <a:r>
              <a:rPr lang="en-US" dirty="0"/>
              <a:t>So the ROC curves reinforce that logistic regression has the </a:t>
            </a:r>
            <a:r>
              <a:rPr lang="en-US" b="1" dirty="0"/>
              <a:t>strongest overall discrimination 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B871C-2A1E-4065-5725-F5D7361CC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02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B386-AC75-0E69-CF18-3AEBA359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8C2CD-8AF3-5267-7B55-293DD189D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31A27-824C-C92A-416C-11F4D3F5A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trade-off between sensitivity and specificity.</a:t>
            </a:r>
          </a:p>
          <a:p>
            <a:r>
              <a:rPr lang="en-US" dirty="0"/>
              <a:t>From theory, this trade-off comes from the fact that we’re choosing a </a:t>
            </a:r>
            <a:r>
              <a:rPr lang="en-US" b="1" dirty="0"/>
              <a:t>classification threshold</a:t>
            </a:r>
            <a:r>
              <a:rPr lang="en-US" dirty="0"/>
              <a:t> on predicted probabilities.</a:t>
            </a:r>
          </a:p>
          <a:p>
            <a:r>
              <a:rPr lang="en-US" dirty="0"/>
              <a:t>If we lower the threshold:</a:t>
            </a:r>
          </a:p>
          <a:p>
            <a:r>
              <a:rPr lang="en-US" dirty="0"/>
              <a:t>we classify more cases as positive → </a:t>
            </a:r>
            <a:r>
              <a:rPr lang="en-US" b="1" dirty="0"/>
              <a:t>higher sensitivity</a:t>
            </a:r>
            <a:r>
              <a:rPr lang="en-US" dirty="0"/>
              <a:t>, but lower specificity </a:t>
            </a:r>
          </a:p>
          <a:p>
            <a:r>
              <a:rPr lang="en-US" dirty="0"/>
              <a:t>If we raise the threshold:</a:t>
            </a:r>
          </a:p>
          <a:p>
            <a:r>
              <a:rPr lang="en-US" dirty="0"/>
              <a:t>we become more strict → </a:t>
            </a:r>
            <a:r>
              <a:rPr lang="en-US" b="1" dirty="0"/>
              <a:t>higher specificity</a:t>
            </a:r>
            <a:r>
              <a:rPr lang="en-US" dirty="0"/>
              <a:t>, but lower sensitivity </a:t>
            </a:r>
          </a:p>
          <a:p>
            <a:r>
              <a:rPr lang="en-US" dirty="0"/>
              <a:t>For logistic regression at the default threshold of 0.5:</a:t>
            </a:r>
          </a:p>
          <a:p>
            <a:r>
              <a:rPr lang="en-US" b="1" dirty="0"/>
              <a:t>Sensitivity = 0.840</a:t>
            </a:r>
            <a:r>
              <a:rPr lang="en-US" dirty="0"/>
              <a:t> </a:t>
            </a:r>
          </a:p>
          <a:p>
            <a:r>
              <a:rPr lang="en-US" b="1" dirty="0"/>
              <a:t>Specificity = 0.725</a:t>
            </a:r>
            <a:r>
              <a:rPr lang="en-US" dirty="0"/>
              <a:t> </a:t>
            </a:r>
          </a:p>
          <a:p>
            <a:r>
              <a:rPr lang="en-US" dirty="0"/>
              <a:t>The important takeaway is that the threshold is not fixed—it depends on the application.</a:t>
            </a:r>
          </a:p>
          <a:p>
            <a:r>
              <a:rPr lang="en-US" dirty="0"/>
              <a:t>For </a:t>
            </a:r>
            <a:r>
              <a:rPr lang="en-US" b="1" dirty="0"/>
              <a:t>screening</a:t>
            </a:r>
            <a:r>
              <a:rPr lang="en-US" dirty="0"/>
              <a:t>, we might prioritize sensitivity so we don’t miss any PD cases </a:t>
            </a:r>
          </a:p>
          <a:p>
            <a:r>
              <a:rPr lang="en-US" dirty="0"/>
              <a:t>For </a:t>
            </a:r>
            <a:r>
              <a:rPr lang="en-US" b="1" dirty="0"/>
              <a:t>clinical confirmation</a:t>
            </a:r>
            <a:r>
              <a:rPr lang="en-US" dirty="0"/>
              <a:t>, we might prioritize specificity to avoid false positives </a:t>
            </a:r>
          </a:p>
          <a:p>
            <a:r>
              <a:rPr lang="en-US" dirty="0"/>
              <a:t>So the model gives us probabilities, and the threshold becomes a </a:t>
            </a:r>
            <a:r>
              <a:rPr lang="en-US" b="1" dirty="0"/>
              <a:t>decision-making tool</a:t>
            </a:r>
            <a:r>
              <a:rPr lang="en-US" dirty="0"/>
              <a:t>, depending on the context.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478D0-BE48-C207-55EC-E59151758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65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D93C-9DA3-52AD-3B5E-A76ED20B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621CF-4DD8-8FB9-E313-32FF5A070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9C47D-A024-6121-1444-EF7F8042D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2B8C4-0B70-BB17-7578-DA58D18CF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6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31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DE28-A2AA-79C9-24AB-49A8CCED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F50B9-1E74-E67D-1274-374EAE739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F7C09-EFEC-CB21-D732-96482100E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38B6-1700-96E8-AC5C-7BE7EDB08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E505-E02E-1D47-9AB8-B992CB05A45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9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55DB8C-8D11-7FF2-CA18-56760720D5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8" y="1775222"/>
            <a:ext cx="4112331" cy="8572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9" y="2701528"/>
            <a:ext cx="4112329" cy="857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800" baseline="0">
                <a:solidFill>
                  <a:schemeClr val="bg1"/>
                </a:solidFill>
                <a:latin typeface="Helvetica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CD854D-8B4F-5DE9-11AD-4718B644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0F042D8-3C6D-12F8-2821-C75F6C05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44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520" y="809577"/>
            <a:ext cx="2747217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aseline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262" y="809577"/>
            <a:ext cx="5593751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DB91DFC-450D-FB89-75A2-ABBE8CF1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686D83-7674-3918-A404-26ABF81B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ADAD6A-4493-6F79-67BB-529EA9CB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B29EC44-CE2C-7D05-4771-DBD6921BB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39983" y="1299931"/>
            <a:ext cx="2746753" cy="3288307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5DAD20E7-D8A9-49BD-3AFE-17A3E83E6B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6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62" y="809577"/>
            <a:ext cx="2747217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aseline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2985" y="809577"/>
            <a:ext cx="5593751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DB91DFC-450D-FB89-75A2-ABBE8CF1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686D83-7674-3918-A404-26ABF81B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ADAD6A-4493-6F79-67BB-529EA9CB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59C24-FF4B-C613-AE40-E591672DE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262" y="1299931"/>
            <a:ext cx="2746753" cy="3288307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5357BC6F-EB1D-94F7-0C42-9E8361DE03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1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wo Column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41B35-A8DB-0D60-CA8E-AC9DC4B7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0E88-FBA6-530A-332C-2C92A427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F9560-E433-8D9A-0CB8-387CD429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446C65-E635-0965-50E1-A8E7125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1" y="809577"/>
            <a:ext cx="2449152" cy="1180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400" b="1" i="0" baseline="0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4E581D6-8212-43C6-BF7A-16D41A99E5E3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4017" y="795336"/>
            <a:ext cx="5682719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F8DD688-0EB9-A192-DFA3-8311D8D389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5410" y="2411506"/>
            <a:ext cx="2449153" cy="2162491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E4BC7B8-21BD-F312-D1C9-4EDB691603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88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wo Column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41B35-A8DB-0D60-CA8E-AC9DC4B7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0E88-FBA6-530A-332C-2C92A427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F9560-E433-8D9A-0CB8-387CD429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446C65-E635-0965-50E1-A8E7125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1" y="809577"/>
            <a:ext cx="2449152" cy="1180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400" b="1" i="0" baseline="0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4E581D6-8212-43C6-BF7A-16D41A99E5E3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290047" y="795336"/>
            <a:ext cx="5496689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F8DD688-0EB9-A192-DFA3-8311D8D389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5410" y="2411506"/>
            <a:ext cx="2449153" cy="2162491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9360214-904F-C721-7DE6-F496BA3D00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3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446C65-E635-0965-50E1-A8E7125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0" y="809577"/>
            <a:ext cx="8429936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aseline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619FA628-0018-6153-1D5D-AA7506F8B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4484" y="1355359"/>
            <a:ext cx="8432252" cy="3218638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Helvetica" pitchFamily="2" charset="0"/>
              </a:defRPr>
            </a:lvl1pPr>
            <a:lvl2pPr>
              <a:defRPr sz="1600" baseline="0">
                <a:latin typeface="Helvetica" pitchFamily="2" charset="0"/>
              </a:defRPr>
            </a:lvl2pPr>
            <a:lvl3pPr>
              <a:defRPr sz="1400" baseline="0">
                <a:latin typeface="Helvetica" pitchFamily="2" charset="0"/>
              </a:defRPr>
            </a:lvl3pPr>
            <a:lvl4pPr>
              <a:defRPr sz="1200" baseline="0">
                <a:latin typeface="Helvetica" pitchFamily="2" charset="0"/>
              </a:defRPr>
            </a:lvl4pPr>
            <a:lvl5pPr>
              <a:defRPr sz="9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E869E529-B2FB-8980-92F4-4E62E45782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92BD4-0397-CABE-CBFB-0AB62F9067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C54E82-CA8A-CDEE-EAEF-973B1CD47B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1A92C9-DD98-ED4B-7D72-9B467910F6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70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41B35-A8DB-0D60-CA8E-AC9DC4B7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0E88-FBA6-530A-332C-2C92A427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F9560-E433-8D9A-0CB8-387CD429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43B465-D479-23D6-1413-3B81138F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0" y="809577"/>
            <a:ext cx="8429936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aseline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8796749-641C-9880-4AFD-99FE954C4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4484" y="1881371"/>
            <a:ext cx="8432252" cy="2692626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AA8B690-E8E2-7791-82D5-693623D8F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4484" y="1345474"/>
            <a:ext cx="4169619" cy="4178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 i="0" baseline="0">
                <a:solidFill>
                  <a:schemeClr val="tx1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6FFA6-0642-E9BA-1E7B-4F10EC3870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17117" y="1345474"/>
            <a:ext cx="4169619" cy="4178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 i="0" baseline="0">
                <a:solidFill>
                  <a:schemeClr val="tx1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BC8BBDB8-5A07-106A-F53B-E1C1B75A47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4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7CF3758-D877-7107-FEA1-01962A27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526BB4E-CFD8-BEB0-2BCC-AB938AF2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E93817D-18BA-219B-DFE5-352AA109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6A853D-2213-9F89-7643-41028EB8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0" y="1138687"/>
            <a:ext cx="8429936" cy="1216324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 i="0" cap="all" spc="28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19A01D8-3C17-A3F0-0AD9-B3BCFC1C3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800" y="2932981"/>
            <a:ext cx="8429935" cy="1216324"/>
          </a:xfrm>
          <a:prstGeom prst="rect">
            <a:avLst/>
          </a:prstGeom>
        </p:spPr>
        <p:txBody>
          <a:bodyPr/>
          <a:lstStyle>
            <a:lvl1pPr algn="ctr">
              <a:defRPr sz="1800" b="0" i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algn="ctr">
              <a:defRPr sz="1800" b="0" i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defRPr sz="1200" baseline="0">
                <a:latin typeface="Univers" panose="020B0503020202020204" pitchFamily="34" charset="0"/>
              </a:defRPr>
            </a:lvl3pPr>
            <a:lvl4pPr>
              <a:defRPr sz="1000" baseline="0">
                <a:latin typeface="Univers" panose="020B0503020202020204" pitchFamily="34" charset="0"/>
              </a:defRPr>
            </a:lvl4pPr>
            <a:lvl5pPr>
              <a:defRPr sz="800" baseline="0">
                <a:latin typeface="Univers" panose="020B05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4768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86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44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4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1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9983" y="4869656"/>
            <a:ext cx="2746753" cy="171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cap="small" spc="150" baseline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264" y="4869655"/>
            <a:ext cx="2746753" cy="17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cap="small" spc="150" baseline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FDC0E6-9186-6879-A1E0-EEEE8B215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869655"/>
            <a:ext cx="2057400" cy="171451"/>
          </a:xfrm>
          <a:prstGeom prst="rect">
            <a:avLst/>
          </a:prstGeom>
        </p:spPr>
        <p:txBody>
          <a:bodyPr/>
          <a:lstStyle>
            <a:lvl1pPr>
              <a:defRPr sz="800" b="0" i="0" baseline="0">
                <a:solidFill>
                  <a:schemeClr val="tx2"/>
                </a:solidFill>
                <a:latin typeface="Helvetica" pitchFamily="2" charset="0"/>
              </a:defRPr>
            </a:lvl1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1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1" r:id="rId3"/>
    <p:sldLayoutId id="2147483680" r:id="rId4"/>
    <p:sldLayoutId id="2147483687" r:id="rId5"/>
    <p:sldLayoutId id="2147483682" r:id="rId6"/>
    <p:sldLayoutId id="2147483683" r:id="rId7"/>
    <p:sldLayoutId id="2147483679" r:id="rId8"/>
    <p:sldLayoutId id="2147483684" r:id="rId9"/>
    <p:sldLayoutId id="2147483685" r:id="rId10"/>
    <p:sldLayoutId id="214748368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831088-7F1E-4663-0F9B-6F5B1978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Predicting Parkinson's Disease Using Voice Recordings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DCA43D-F7BA-A4D3-E575-16ACBB92BFB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                        PH 1976: </a:t>
            </a:r>
            <a:r>
              <a:rPr lang="en-US" i="0" dirty="0"/>
              <a:t>Fundamentals of Data Analytics and Predictions</a:t>
            </a:r>
          </a:p>
          <a:p>
            <a:pPr marL="0" indent="0" algn="just">
              <a:buNone/>
            </a:pPr>
            <a:r>
              <a:rPr lang="en-US" i="0" dirty="0"/>
              <a:t>                        Instructor: Ashraf Yaseen</a:t>
            </a:r>
          </a:p>
          <a:p>
            <a:pPr marL="0" indent="0">
              <a:buNone/>
            </a:pPr>
            <a:r>
              <a:rPr lang="en-US" i="0" dirty="0"/>
              <a:t>             Group Member: Huiying Hu, Parminder Singh Kooner, Syeda Akter</a:t>
            </a:r>
            <a:endParaRPr lang="en-US" dirty="0"/>
          </a:p>
        </p:txBody>
      </p:sp>
      <p:sp>
        <p:nvSpPr>
          <p:cNvPr id="6" name="Date Placeholder 14">
            <a:extLst>
              <a:ext uri="{FF2B5EF4-FFF2-40B4-BE49-F238E27FC236}">
                <a16:creationId xmlns:a16="http://schemas.microsoft.com/office/drawing/2014/main" id="{691EEDC3-3D4A-EF02-B0BA-48961A399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9983" y="4869656"/>
            <a:ext cx="2746753" cy="1714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April 29, 2026</a:t>
            </a:r>
          </a:p>
        </p:txBody>
      </p:sp>
      <p:sp>
        <p:nvSpPr>
          <p:cNvPr id="8" name="Slide Number Placeholder 16">
            <a:extLst>
              <a:ext uri="{FF2B5EF4-FFF2-40B4-BE49-F238E27FC236}">
                <a16:creationId xmlns:a16="http://schemas.microsoft.com/office/drawing/2014/main" id="{EAB807FD-5A5E-618E-0F5C-22C747CB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4869655"/>
            <a:ext cx="2057400" cy="1714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88155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B11D-8FD0-DB56-A439-2483F768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31C23E5-1FBC-B7B9-722C-F068998543D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543300" y="4869655"/>
            <a:ext cx="2057400" cy="171451"/>
          </a:xfrm>
        </p:spPr>
        <p:txBody>
          <a:bodyPr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0A5565-0A53-95AB-AF72-30369984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Clinical Motivation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BF4C2FB-D415-9C77-A90E-9D495C51A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4484" y="1355359"/>
            <a:ext cx="4516774" cy="3191703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Parkinson's disease (PD) is a progressive neurodegenerative disorder caused by loss of dopaminergic neurons in the substantia nigra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~90% of PD patients develop vocal impairment: reduced loudness, irregular pitch, breathy speech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is a motor function affected by the same circuits that control movement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analysis is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non-invasive, low-cost, and remotely deployable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ideal for early screening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36AB40-507C-E2EF-E57D-127E3321B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70406" y="1478003"/>
            <a:ext cx="4173594" cy="19246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DD558F-D9A6-9829-5C3F-595577FBECEE}"/>
              </a:ext>
            </a:extLst>
          </p:cNvPr>
          <p:cNvSpPr txBox="1"/>
          <p:nvPr/>
        </p:nvSpPr>
        <p:spPr>
          <a:xfrm>
            <a:off x="7730835" y="3707407"/>
            <a:ext cx="16625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Kufta, A. (2026)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BioRender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503309-ECAA-717A-5CEE-DA2EDDBF9887}"/>
              </a:ext>
            </a:extLst>
          </p:cNvPr>
          <p:cNvSpPr txBox="1"/>
          <p:nvPr/>
        </p:nvSpPr>
        <p:spPr>
          <a:xfrm>
            <a:off x="4970406" y="3499658"/>
            <a:ext cx="40821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dopaminergic neurons in the substantia nigra disrupts dopamine signaling at the synapse</a:t>
            </a:r>
          </a:p>
        </p:txBody>
      </p:sp>
    </p:spTree>
    <p:extLst>
      <p:ext uri="{BB962C8B-B14F-4D97-AF65-F5344CB8AC3E}">
        <p14:creationId xmlns:p14="http://schemas.microsoft.com/office/powerpoint/2010/main" val="383626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B48700-9453-8269-B6EC-B1AD9BC3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&amp; Preprocessing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1BA9B7-E25B-3F88-422B-B60F96633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4484" y="1288473"/>
            <a:ext cx="8432252" cy="328552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Sakar et al. (2019) — Parkinson's voice recordings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 subjects × 3 recordings =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756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observations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Subject-level aggregation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of 3 recordings per subject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= first observed class per subject (consistent across recordings)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 train / 51 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 missing values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High-correlation filter (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cutoff = 0.90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predictors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Z-score standardization: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on training only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18">
            <a:extLst>
              <a:ext uri="{FF2B5EF4-FFF2-40B4-BE49-F238E27FC236}">
                <a16:creationId xmlns:a16="http://schemas.microsoft.com/office/drawing/2014/main" id="{EB6706FE-9163-6E77-986B-6F6BEB02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4869655"/>
            <a:ext cx="2057400" cy="171451"/>
          </a:xfrm>
        </p:spPr>
        <p:txBody>
          <a:bodyPr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861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E58B-A523-B2F6-3A66-8323B118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Feature Correlation and Two Preprocessed Versions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A4D0F-8267-133A-5B14-84ACA56AE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4484" y="1438102"/>
            <a:ext cx="3452745" cy="3135895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Acoustic features are highly redundant — MFCC, wavelet, and TQWT bands carry overlapping information 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753 features reveals dense clusters of highly correlated predictors 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model families have different needs: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sensitive to multicollinearity → coefficient variance inflation, unstable optimization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&amp; kernel methods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(RF, SVM, MLP) handle correlated features natively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ED54F9-0F8B-588C-1A40-A5F4DAEA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452" y="1227448"/>
            <a:ext cx="4040217" cy="3467005"/>
          </a:xfrm>
          <a:prstGeom prst="rect">
            <a:avLst/>
          </a:prstGeom>
        </p:spPr>
      </p:pic>
      <p:sp>
        <p:nvSpPr>
          <p:cNvPr id="5" name="Slide Number Placeholder 18">
            <a:extLst>
              <a:ext uri="{FF2B5EF4-FFF2-40B4-BE49-F238E27FC236}">
                <a16:creationId xmlns:a16="http://schemas.microsoft.com/office/drawing/2014/main" id="{C09E6F63-B0D9-9ABD-8D96-57808446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45686" y="4905107"/>
            <a:ext cx="2057400" cy="171451"/>
          </a:xfrm>
        </p:spPr>
        <p:txBody>
          <a:bodyPr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9410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B11D-8FD0-DB56-A439-2483F768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C793-CC08-BD9C-AF51-2997CBD5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4" y="759668"/>
            <a:ext cx="3907166" cy="417871"/>
          </a:xfrm>
        </p:spPr>
        <p:txBody>
          <a:bodyPr>
            <a:noAutofit/>
          </a:bodyPr>
          <a:lstStyle/>
          <a:p>
            <a:r>
              <a:rPr lang="en-US" sz="2000" dirty="0"/>
              <a:t>Exploratory Findings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31C23E5-1FBC-B7B9-722C-F0689985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CDCAB-EEE9-9BB4-B75B-058CDA6DC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9571" y="1299931"/>
            <a:ext cx="3907165" cy="3288307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 PD / 51 Non-PD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 = 201), roughly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: 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trivial "predict all PD" classifier achieves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 accuracy with 0% specificity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high accuracy, zero diagnostic value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AUC, sensitivity, and specificity together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accuracy alone Applying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up-sampling within CV folds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training to balance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4DD7A-833E-619F-2C77-6B8751521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64" y="1299931"/>
            <a:ext cx="4322617" cy="323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9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B11D-8FD0-DB56-A439-2483F768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6074-4E96-FBCF-53FD-8D552E68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Exploratory Findings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31C23E5-1FBC-B7B9-722C-F0689985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3D0D-D6FE-62B7-5379-7CCD84887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262" y="1299931"/>
            <a:ext cx="3125771" cy="3288307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753 individual features against PD vs Non-PD class Most features overlap heavily between groups (e.g.,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mean_MFCC_1st_coef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show modest separation (e.g.,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f1, PPE,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GNE_mean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but none cleanly separates classes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feature works as a univariate diagnostic marker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 signal is distributed across many weakly informative features, motivating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ML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simple thresholding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B0784-90C4-0498-2DC4-FB6E8806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317935"/>
            <a:ext cx="5549900" cy="2781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5F4903-A7A8-4D7D-72E1-2A130436638A}"/>
              </a:ext>
            </a:extLst>
          </p:cNvPr>
          <p:cNvSpPr/>
          <p:nvPr/>
        </p:nvSpPr>
        <p:spPr>
          <a:xfrm>
            <a:off x="7331825" y="1406503"/>
            <a:ext cx="1197033" cy="1537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66653E-EA1F-2D0A-568E-D5F03085D864}"/>
              </a:ext>
            </a:extLst>
          </p:cNvPr>
          <p:cNvSpPr/>
          <p:nvPr/>
        </p:nvSpPr>
        <p:spPr>
          <a:xfrm>
            <a:off x="4879571" y="1471353"/>
            <a:ext cx="1313411" cy="13050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1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B04E-FA8C-A2E6-727F-0433BB02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001F-8945-4E03-36C9-D97404FB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1" y="809577"/>
            <a:ext cx="4081735" cy="417871"/>
          </a:xfrm>
        </p:spPr>
        <p:txBody>
          <a:bodyPr>
            <a:noAutofit/>
          </a:bodyPr>
          <a:lstStyle/>
          <a:p>
            <a:r>
              <a:rPr lang="en-US" sz="1600" b="1" dirty="0"/>
              <a:t>Dimensionality Reduction with PCA Findings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9FEA319-B158-6A9B-55C0-DBC70422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D2B1A-E7AC-0B47-9DAF-B041EAF94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262" y="1299931"/>
            <a:ext cx="3125771" cy="3288307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correlation filtering, applied PCA to compress residual redundancy in the 353 features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two components together explain only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variance (PC1: 14.2%, PC2: 11.1%)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 components needed for 80%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variance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is spread across many components, consistent with our EDA finding that PD signal is distributed across many features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input for the MLP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4A021C-72D8-B031-3515-CA791E0CF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477213"/>
            <a:ext cx="55499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1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4A198-11A0-AFE9-FF78-89C065A0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29D7-20F4-A29E-0C53-441C488D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1" y="809577"/>
            <a:ext cx="4081735" cy="417871"/>
          </a:xfrm>
        </p:spPr>
        <p:txBody>
          <a:bodyPr>
            <a:noAutofit/>
          </a:bodyPr>
          <a:lstStyle/>
          <a:p>
            <a:r>
              <a:rPr lang="en-US" sz="1600" b="1" dirty="0"/>
              <a:t>Modeling Approach: Four Classifiers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60BAF5A-A8FE-684A-9B7E-252D0222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8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69F109C-E515-D542-BDC3-8AB45A56F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205243"/>
              </p:ext>
            </p:extLst>
          </p:nvPr>
        </p:nvGraphicFramePr>
        <p:xfrm>
          <a:off x="326088" y="1227448"/>
          <a:ext cx="8562296" cy="2999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74">
                  <a:extLst>
                    <a:ext uri="{9D8B030D-6E8A-4147-A177-3AD203B41FA5}">
                      <a16:colId xmlns:a16="http://schemas.microsoft.com/office/drawing/2014/main" val="3080166450"/>
                    </a:ext>
                  </a:extLst>
                </a:gridCol>
                <a:gridCol w="2140574">
                  <a:extLst>
                    <a:ext uri="{9D8B030D-6E8A-4147-A177-3AD203B41FA5}">
                      <a16:colId xmlns:a16="http://schemas.microsoft.com/office/drawing/2014/main" val="2793061110"/>
                    </a:ext>
                  </a:extLst>
                </a:gridCol>
                <a:gridCol w="2140574">
                  <a:extLst>
                    <a:ext uri="{9D8B030D-6E8A-4147-A177-3AD203B41FA5}">
                      <a16:colId xmlns:a16="http://schemas.microsoft.com/office/drawing/2014/main" val="3127706513"/>
                    </a:ext>
                  </a:extLst>
                </a:gridCol>
                <a:gridCol w="2140574">
                  <a:extLst>
                    <a:ext uri="{9D8B030D-6E8A-4147-A177-3AD203B41FA5}">
                      <a16:colId xmlns:a16="http://schemas.microsoft.com/office/drawing/2014/main" val="172696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487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glmnet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353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= 0, λ = 0.1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baseline, ridge penalty handles residual collinearity, interpretable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75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753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mtry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 non-linear interactions, provides features importance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24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753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 = 0.001,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Non-linear decision boundary in high-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dimspace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80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 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= 5, decay =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Non-linear, PCA input stabilizes training given p &gt;n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220432"/>
                  </a:ext>
                </a:extLst>
              </a:tr>
            </a:tbl>
          </a:graphicData>
        </a:graphic>
      </p:graphicFrame>
      <p:pic>
        <p:nvPicPr>
          <p:cNvPr id="9" name="Picture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8E34642-4B86-6CCF-5BA9-97AD4857F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31" y="2234888"/>
            <a:ext cx="6961537" cy="109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2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5E33-9A94-5904-2E9D-4C479E31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4" y="882060"/>
            <a:ext cx="3790971" cy="417871"/>
          </a:xfrm>
        </p:spPr>
        <p:txBody>
          <a:bodyPr>
            <a:normAutofit/>
          </a:bodyPr>
          <a:lstStyle/>
          <a:p>
            <a:r>
              <a:rPr lang="en-US" sz="2000" b="1" dirty="0"/>
              <a:t>Evaluation Framework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36481-B7EB-46DB-E3C3-9B7090104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264" y="1557626"/>
            <a:ext cx="7689456" cy="3288307"/>
          </a:xfrm>
        </p:spPr>
        <p:txBody>
          <a:bodyPr/>
          <a:lstStyle/>
          <a:p>
            <a:r>
              <a:rPr lang="en-US" b="1" dirty="0"/>
              <a:t>Performance estimation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All metrics computed via </a:t>
            </a:r>
            <a:r>
              <a:rPr lang="en-US" b="1" dirty="0"/>
              <a:t>5-fold cross-validation</a:t>
            </a:r>
            <a:r>
              <a:rPr lang="en-US" dirty="0"/>
              <a:t> on the 201 training subjects</a:t>
            </a:r>
          </a:p>
          <a:p>
            <a:pPr lvl="1"/>
            <a:r>
              <a:rPr lang="en-US" dirty="0"/>
              <a:t>The 51-subject test set has no labels — used only to generate final predictions for course submission</a:t>
            </a:r>
          </a:p>
          <a:p>
            <a:pPr lvl="1"/>
            <a:r>
              <a:rPr lang="en-US" dirty="0"/>
              <a:t>Hyperparameters tuned within CV using grid search; final values reported in Methods slide</a:t>
            </a:r>
          </a:p>
          <a:p>
            <a:r>
              <a:rPr lang="en-US" b="1" dirty="0"/>
              <a:t>Metrics reported</a:t>
            </a:r>
            <a:endParaRPr lang="en-US" dirty="0"/>
          </a:p>
          <a:p>
            <a:pPr lvl="1"/>
            <a:r>
              <a:rPr lang="en-US" b="1" dirty="0"/>
              <a:t>AUC</a:t>
            </a:r>
            <a:r>
              <a:rPr lang="en-US" dirty="0"/>
              <a:t> — overall ranking performance, threshold-independent</a:t>
            </a:r>
          </a:p>
          <a:p>
            <a:pPr lvl="1"/>
            <a:r>
              <a:rPr lang="en-US" b="1" dirty="0"/>
              <a:t>Sensitivity</a:t>
            </a:r>
            <a:r>
              <a:rPr lang="en-US" dirty="0"/>
              <a:t> — recall on PD class (true positive rate)</a:t>
            </a:r>
          </a:p>
          <a:p>
            <a:pPr lvl="1"/>
            <a:r>
              <a:rPr lang="en-US" b="1" dirty="0"/>
              <a:t>Specificity</a:t>
            </a:r>
            <a:r>
              <a:rPr lang="en-US" dirty="0"/>
              <a:t> — recall on Non-PD class (true negative rate)</a:t>
            </a:r>
          </a:p>
          <a:p>
            <a:pPr lvl="1"/>
            <a:r>
              <a:rPr lang="en-US" b="1" dirty="0"/>
              <a:t>Accuracy, F1</a:t>
            </a:r>
            <a:r>
              <a:rPr lang="en-US" dirty="0"/>
              <a:t> — reported for completeness, but de-emphasized given class imbalance</a:t>
            </a:r>
          </a:p>
          <a:p>
            <a:endParaRPr lang="en-US" dirty="0"/>
          </a:p>
        </p:txBody>
      </p:sp>
      <p:sp>
        <p:nvSpPr>
          <p:cNvPr id="3" name="Slide Number Placeholder 18">
            <a:extLst>
              <a:ext uri="{FF2B5EF4-FFF2-40B4-BE49-F238E27FC236}">
                <a16:creationId xmlns:a16="http://schemas.microsoft.com/office/drawing/2014/main" id="{CFFA7750-AEA0-F503-F067-D1FD361B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4869655"/>
            <a:ext cx="2057400" cy="171451"/>
          </a:xfrm>
        </p:spPr>
        <p:txBody>
          <a:bodyPr/>
          <a:lstStyle/>
          <a:p>
            <a:pPr algn="ctr"/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3109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B11D-8FD0-DB56-A439-2483F768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76524F-AB50-91AB-FCAA-7A1180D2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84" y="809577"/>
            <a:ext cx="5585829" cy="417871"/>
          </a:xfrm>
        </p:spPr>
        <p:txBody>
          <a:bodyPr>
            <a:noAutofit/>
          </a:bodyPr>
          <a:lstStyle/>
          <a:p>
            <a:r>
              <a:rPr lang="en-US" sz="1800" b="1" dirty="0"/>
              <a:t>Cross-Validated Performance Across Models</a:t>
            </a:r>
            <a:br>
              <a:rPr lang="en-US" sz="1800" dirty="0"/>
            </a:br>
            <a:endParaRPr lang="en-US" sz="1800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BD465A3D-01C7-5CD3-74F4-BC674DF543F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12938221"/>
              </p:ext>
            </p:extLst>
          </p:nvPr>
        </p:nvGraphicFramePr>
        <p:xfrm>
          <a:off x="356667" y="1341639"/>
          <a:ext cx="8247006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501">
                  <a:extLst>
                    <a:ext uri="{9D8B030D-6E8A-4147-A177-3AD203B41FA5}">
                      <a16:colId xmlns:a16="http://schemas.microsoft.com/office/drawing/2014/main" val="3950890970"/>
                    </a:ext>
                  </a:extLst>
                </a:gridCol>
                <a:gridCol w="1374501">
                  <a:extLst>
                    <a:ext uri="{9D8B030D-6E8A-4147-A177-3AD203B41FA5}">
                      <a16:colId xmlns:a16="http://schemas.microsoft.com/office/drawing/2014/main" val="2418524949"/>
                    </a:ext>
                  </a:extLst>
                </a:gridCol>
                <a:gridCol w="1374501">
                  <a:extLst>
                    <a:ext uri="{9D8B030D-6E8A-4147-A177-3AD203B41FA5}">
                      <a16:colId xmlns:a16="http://schemas.microsoft.com/office/drawing/2014/main" val="927779177"/>
                    </a:ext>
                  </a:extLst>
                </a:gridCol>
                <a:gridCol w="1374501">
                  <a:extLst>
                    <a:ext uri="{9D8B030D-6E8A-4147-A177-3AD203B41FA5}">
                      <a16:colId xmlns:a16="http://schemas.microsoft.com/office/drawing/2014/main" val="3056813058"/>
                    </a:ext>
                  </a:extLst>
                </a:gridCol>
                <a:gridCol w="1374501">
                  <a:extLst>
                    <a:ext uri="{9D8B030D-6E8A-4147-A177-3AD203B41FA5}">
                      <a16:colId xmlns:a16="http://schemas.microsoft.com/office/drawing/2014/main" val="3760897553"/>
                    </a:ext>
                  </a:extLst>
                </a:gridCol>
                <a:gridCol w="1374501">
                  <a:extLst>
                    <a:ext uri="{9D8B030D-6E8A-4147-A177-3AD203B41FA5}">
                      <a16:colId xmlns:a16="http://schemas.microsoft.com/office/drawing/2014/main" val="3380778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12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 (</a:t>
                      </a: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glmnet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40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84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43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173919"/>
                  </a:ext>
                </a:extLst>
              </a:tr>
            </a:tbl>
          </a:graphicData>
        </a:graphic>
      </p:graphicFrame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31C23E5-1FBC-B7B9-722C-F0689985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63ABA-1A46-6DB2-2D06-E7DE4D5D18C4}"/>
              </a:ext>
            </a:extLst>
          </p:cNvPr>
          <p:cNvSpPr txBox="1"/>
          <p:nvPr/>
        </p:nvSpPr>
        <p:spPr>
          <a:xfrm>
            <a:off x="365184" y="3724102"/>
            <a:ext cx="82384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AUC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sensitivity-specificity balance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and SVM achieve very high sensitivity (≥0.94) but at the cost of low specificity — close to the "predict all PD" 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underperforms — likely limited by hyperparameter search and small training set</a:t>
            </a: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A6A15BB0-27EE-8601-0DE1-22F1DB857BB9}"/>
              </a:ext>
            </a:extLst>
          </p:cNvPr>
          <p:cNvSpPr/>
          <p:nvPr/>
        </p:nvSpPr>
        <p:spPr>
          <a:xfrm>
            <a:off x="108065" y="2036618"/>
            <a:ext cx="166254" cy="15794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91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B854-F6FE-34B1-6391-49F168AF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E6B0-A1DB-841A-027C-D25816C54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1" y="809577"/>
            <a:ext cx="4763379" cy="417871"/>
          </a:xfrm>
        </p:spPr>
        <p:txBody>
          <a:bodyPr>
            <a:noAutofit/>
          </a:bodyPr>
          <a:lstStyle/>
          <a:p>
            <a:r>
              <a:rPr lang="en-US" sz="1800" b="1" dirty="0"/>
              <a:t>ROC Curves and Sensitivity–Specificity Trade-off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DCD452B-2344-92BD-7E52-9E350331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0C9DA-E3F9-09CD-5179-EB2FB8F28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261" y="1404398"/>
            <a:ext cx="3125771" cy="3129895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four classifiers plotted in the same ROC space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and RF dominate at most operating points; SVM and MLP run consistently below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ranking: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0.859 &gt; RF 0.842 &gt; MLP 0.816 &gt; SVM 0.796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gap is largest in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high-specificity region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regime that matters for clinical screening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D1F1AD-759D-FE7A-D953-CA540C658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61" y="1404398"/>
            <a:ext cx="3630585" cy="290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06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3FA4-C323-D002-BBD4-0A64C58C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BADC-CFBB-1CBB-021A-E3C402A34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1" y="809577"/>
            <a:ext cx="4763379" cy="417871"/>
          </a:xfrm>
        </p:spPr>
        <p:txBody>
          <a:bodyPr>
            <a:noAutofit/>
          </a:bodyPr>
          <a:lstStyle/>
          <a:p>
            <a:r>
              <a:rPr lang="en-US" sz="1800" b="1" dirty="0"/>
              <a:t>ROC Curves and Sensitivity–Specificity Trade-off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EA8CA11-1185-232E-E3EA-DA0D79D9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4869656"/>
            <a:ext cx="2057400" cy="171451"/>
          </a:xfrm>
        </p:spPr>
        <p:txBody>
          <a:bodyPr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9D2E0-8DCD-23BE-376D-A3B15EE0181B}"/>
              </a:ext>
            </a:extLst>
          </p:cNvPr>
          <p:cNvSpPr txBox="1"/>
          <p:nvPr/>
        </p:nvSpPr>
        <p:spPr>
          <a:xfrm>
            <a:off x="4685121" y="1404398"/>
            <a:ext cx="420195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default 0.5 threshold: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 = 0.840, Spec = 0.725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threshold is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it's a downstream policy decision, not a fixed model property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threshold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higher sensitivity, lower specificity → suits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screening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(catch every potential case)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threshold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higher specificity, lower sensitivity → suits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specialist triage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(only flag high-confidence cases)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outputs a continuous risk score, allowing flexible deployment across clinical contexts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925B76-9DDF-0656-2532-C2767EABF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28" y="1409334"/>
            <a:ext cx="3786048" cy="302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17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7811-1D1C-4223-B1A0-C9895585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3FC65-44EF-BF71-1660-C572152F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1" y="809577"/>
            <a:ext cx="4763379" cy="417871"/>
          </a:xfrm>
        </p:spPr>
        <p:txBody>
          <a:bodyPr>
            <a:noAutofit/>
          </a:bodyPr>
          <a:lstStyle/>
          <a:p>
            <a:r>
              <a:rPr lang="en-US" sz="1800" b="1" dirty="0"/>
              <a:t>Most Informative Features (Random Forest)</a:t>
            </a:r>
            <a:br>
              <a:rPr lang="en-US" sz="1800" b="1" dirty="0"/>
            </a:br>
            <a:endParaRPr lang="en-US" sz="1800" b="1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4A6D4DD-D091-A159-C9A2-91E8B295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969C-9610-0236-10F5-536E11620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261" y="1319556"/>
            <a:ext cx="3903654" cy="3129895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provides feature importance via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decrease in accuracy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each variable is permuted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Top-ranked features cluster in two acoustic families: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Delta-energy features,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frame-to-frame changes in spectral energy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TQWT wavelet features,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frequency-band energy and shape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reflect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dynamics and fine-grained spectral irregularity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consistent with PD vocal motor impairment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feature dominates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top features have similar importance scores, reinforcing the multivariate signal hypothesis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34AF4-7147-7F63-989D-F25A7E2E0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112" y="1227448"/>
            <a:ext cx="4330624" cy="346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99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B11D-8FD0-DB56-A439-2483F768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E65BB-9B3C-3BB6-979C-C86C0AB3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4" y="741351"/>
            <a:ext cx="5593751" cy="417871"/>
          </a:xfrm>
        </p:spPr>
        <p:txBody>
          <a:bodyPr>
            <a:normAutofit/>
          </a:bodyPr>
          <a:lstStyle/>
          <a:p>
            <a:r>
              <a:rPr lang="en-US" sz="1800" b="1" dirty="0"/>
              <a:t>Discussion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2CDA1C-5D33-C87E-F3BF-821A92D34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7264" y="1370285"/>
            <a:ext cx="8429472" cy="32883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 Logistic regression with ridge penalty.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CV AUC (0.859) and best Sens/Spec balance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models traded specificity for sensitivity.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RF and SVM behavior approached the "predict all PD" baseline rather than learning a balanced boundary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Simplest model won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consistent with small-n, high-p biomedical classification, where regularized linear models often match or beat complex alternatives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features (delta-energy, TQWT wavelet)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plausibly reflect reduced energy variability and spectral irregularity from impaired laryngeal motor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screening: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non-invasive, low-cost, scalable. Useful for triage, not standalone diagnosis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31C23E5-1FBC-B7B9-722C-F0689985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5353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050DE-CA31-FC70-3EDC-C24B32E0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D3C81D-08A7-8583-F1B9-FD6EF89A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64" y="741351"/>
            <a:ext cx="5593751" cy="417871"/>
          </a:xfrm>
        </p:spPr>
        <p:txBody>
          <a:bodyPr>
            <a:normAutofit/>
          </a:bodyPr>
          <a:lstStyle/>
          <a:p>
            <a:r>
              <a:rPr lang="en-US" sz="1800" b="1" dirty="0"/>
              <a:t>Limitation and 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AED858-E967-B05B-FA1C-BF88FB8C2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7264" y="1370285"/>
            <a:ext cx="8429472" cy="32883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sample 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 = 201 training subjects) limits generalizability and complex 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(3:1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PD:Non-PD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may bias models toward the majority class despite up-sampling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validation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test set has no labels; CV is our only performance estimate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MLP — broader grid search may shift rankings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with ridge penalty achieved the best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AUC (0.859)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balanced sensitivity (0.84) and specificity (0.73)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classification is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promising, low-cost screening modality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PD — not a replacement for clinical examination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larger cohorts, longitudinal recordings, external validation across recording devices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7E73F9F-7BE8-4FF0-662F-5A4B0C61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90383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6A09-E916-AEAE-2760-00B7684370CB}"/>
              </a:ext>
            </a:extLst>
          </p:cNvPr>
          <p:cNvSpPr txBox="1"/>
          <p:nvPr/>
        </p:nvSpPr>
        <p:spPr>
          <a:xfrm>
            <a:off x="3250276" y="2063918"/>
            <a:ext cx="5511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Q</a:t>
            </a:r>
            <a:r>
              <a:rPr lang="zh-CN" altLang="en-US" sz="6000" dirty="0">
                <a:solidFill>
                  <a:schemeClr val="bg1"/>
                </a:solidFill>
              </a:rPr>
              <a:t> </a:t>
            </a:r>
            <a:r>
              <a:rPr lang="en-US" altLang="zh-CN" sz="6000" dirty="0">
                <a:solidFill>
                  <a:schemeClr val="bg1"/>
                </a:solidFill>
              </a:rPr>
              <a:t>&amp;</a:t>
            </a:r>
            <a:r>
              <a:rPr lang="zh-CN" altLang="en-US" sz="6000" dirty="0">
                <a:solidFill>
                  <a:schemeClr val="bg1"/>
                </a:solidFill>
              </a:rPr>
              <a:t> </a:t>
            </a:r>
            <a:r>
              <a:rPr lang="en-US" altLang="zh-CN" sz="6000" dirty="0">
                <a:solidFill>
                  <a:schemeClr val="bg1"/>
                </a:solidFill>
              </a:rPr>
              <a:t>A</a:t>
            </a:r>
            <a:endParaRPr 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11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THH Color Palette">
      <a:dk1>
        <a:srgbClr val="000000"/>
      </a:dk1>
      <a:lt1>
        <a:srgbClr val="FFFFFF"/>
      </a:lt1>
      <a:dk2>
        <a:srgbClr val="747578"/>
      </a:dk2>
      <a:lt2>
        <a:srgbClr val="DFE5E3"/>
      </a:lt2>
      <a:accent1>
        <a:srgbClr val="AE6041"/>
      </a:accent1>
      <a:accent2>
        <a:srgbClr val="4E738A"/>
      </a:accent2>
      <a:accent3>
        <a:srgbClr val="002856"/>
      </a:accent3>
      <a:accent4>
        <a:srgbClr val="F2B826"/>
      </a:accent4>
      <a:accent5>
        <a:srgbClr val="587E69"/>
      </a:accent5>
      <a:accent6>
        <a:srgbClr val="7D708F"/>
      </a:accent6>
      <a:hlink>
        <a:srgbClr val="3366CC"/>
      </a:hlink>
      <a:folHlink>
        <a:srgbClr val="795CB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H_powerpoint_template-1920x1080" id="{283D6D6E-5438-7E42-A4E6-31D97A720212}" vid="{76AA9582-2630-614F-9704-A6B6A10F41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</TotalTime>
  <Words>2309</Words>
  <Application>Microsoft Office PowerPoint</Application>
  <PresentationFormat>On-screen Show (16:9)</PresentationFormat>
  <Paragraphs>228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Helvetica</vt:lpstr>
      <vt:lpstr>Times New Roman</vt:lpstr>
      <vt:lpstr>Univers</vt:lpstr>
      <vt:lpstr>Office Theme</vt:lpstr>
      <vt:lpstr>Predicting Parkinson's Disease Using Voice Recordings</vt:lpstr>
      <vt:lpstr>Background &amp; Clinical Motivation</vt:lpstr>
      <vt:lpstr>Dataset &amp; Preprocessing</vt:lpstr>
      <vt:lpstr>Feature Correlation and Two Preprocessed Versions </vt:lpstr>
      <vt:lpstr>Exploratory Findings</vt:lpstr>
      <vt:lpstr>Exploratory Findings</vt:lpstr>
      <vt:lpstr>Dimensionality Reduction with PCA Findings</vt:lpstr>
      <vt:lpstr>Modeling Approach: Four Classifiers</vt:lpstr>
      <vt:lpstr>Evaluation Framework</vt:lpstr>
      <vt:lpstr>Cross-Validated Performance Across Models </vt:lpstr>
      <vt:lpstr>ROC Curves and Sensitivity–Specificity Trade-off </vt:lpstr>
      <vt:lpstr>ROC Curves and Sensitivity–Specificity Trade-off </vt:lpstr>
      <vt:lpstr>Most Informative Features (Random Forest) </vt:lpstr>
      <vt:lpstr>Discussion</vt:lpstr>
      <vt:lpstr>Limitation and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Boteilho, Matthew</dc:creator>
  <cp:lastModifiedBy>Kooner, Parminder S</cp:lastModifiedBy>
  <cp:revision>154</cp:revision>
  <dcterms:created xsi:type="dcterms:W3CDTF">2024-01-25T20:28:46Z</dcterms:created>
  <dcterms:modified xsi:type="dcterms:W3CDTF">2026-04-29T17:33:48Z</dcterms:modified>
</cp:coreProperties>
</file>